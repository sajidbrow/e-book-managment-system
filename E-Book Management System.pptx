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handoutMasterIdLst>
    <p:handoutMasterId r:id="rId13"/>
  </p:handoutMasterIdLst>
  <p:sldIdLst>
    <p:sldId id="264" r:id="rId2"/>
    <p:sldId id="276" r:id="rId3"/>
    <p:sldId id="281" r:id="rId4"/>
    <p:sldId id="282" r:id="rId5"/>
    <p:sldId id="283" r:id="rId6"/>
    <p:sldId id="278" r:id="rId7"/>
    <p:sldId id="285" r:id="rId8"/>
    <p:sldId id="284" r:id="rId9"/>
    <p:sldId id="286" r:id="rId10"/>
    <p:sldId id="287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280" autoAdjust="0"/>
  </p:normalViewPr>
  <p:slideViewPr>
    <p:cSldViewPr showGuides="1">
      <p:cViewPr varScale="1">
        <p:scale>
          <a:sx n="85" d="100"/>
          <a:sy n="85" d="100"/>
        </p:scale>
        <p:origin x="590" y="6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5/19/2023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5/19/2023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5/19/2023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5/19/2023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5/19/2023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5/19/2023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5/19/2023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5/19/2023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5/19/2023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5/19/2023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5/19/2023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5/19/2023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8108" y="614362"/>
            <a:ext cx="9073008" cy="3966766"/>
          </a:xfrm>
        </p:spPr>
        <p:txBody>
          <a:bodyPr>
            <a:normAutofit/>
          </a:bodyPr>
          <a:lstStyle/>
          <a:p>
            <a:r>
              <a:rPr lang="en-US" sz="6600" dirty="0"/>
              <a:t>E-Book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120552"/>
          </a:xfrm>
        </p:spPr>
        <p:txBody>
          <a:bodyPr/>
          <a:lstStyle/>
          <a:p>
            <a:r>
              <a:rPr lang="en-US" sz="4800" u="sng" dirty="0"/>
              <a:t>Introduction</a:t>
            </a:r>
            <a:endParaRPr lang="en-US" u="sng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17309" y="1340768"/>
            <a:ext cx="10157354" cy="54410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b="0" i="0" dirty="0">
                <a:effectLst/>
                <a:latin typeface="+mj-lt"/>
              </a:rPr>
              <a:t>The E-Book Management System is a software application designed to streamline the management and organization of electronic books (e-books). With the increasing popularity of digital books, it has become essential for individuals and organizations to efficiently handle their e-book collections.</a:t>
            </a:r>
          </a:p>
          <a:p>
            <a:pPr marL="0" indent="0">
              <a:buNone/>
            </a:pPr>
            <a:r>
              <a:rPr lang="en-US" sz="2800" b="0" i="0" dirty="0">
                <a:effectLst/>
                <a:latin typeface="+mj-lt"/>
              </a:rPr>
              <a:t> This system aims to provide a user-friendly platform for users to search, categorize, and manage their e-books effectively. </a:t>
            </a:r>
            <a:r>
              <a:rPr lang="en-US" sz="2800" b="0" i="0" dirty="0">
                <a:effectLst/>
              </a:rPr>
              <a:t>The system offers a range of features to enhance the user experience and facilitate easy access to e-books. It includes functionalities such as book searching, adding books to personal libraries, tracking reading progress, generating recommendations, and more. 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04528"/>
          </a:xfrm>
        </p:spPr>
        <p:txBody>
          <a:bodyPr/>
          <a:lstStyle/>
          <a:p>
            <a:r>
              <a:rPr lang="en-US" u="sng" dirty="0"/>
              <a:t>Key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3ACEA-64EC-31F7-D272-8724BA4BD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980728"/>
            <a:ext cx="10157354" cy="5877272"/>
          </a:xfrm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sz="2000" b="0" i="0" u="sng" dirty="0">
                <a:effectLst/>
              </a:rPr>
              <a:t>E-Book Catalog</a:t>
            </a:r>
            <a:r>
              <a:rPr lang="en-US" sz="2000" b="0" i="0" dirty="0">
                <a:effectLst/>
              </a:rPr>
              <a:t>: The system maintains a comprehensive catalog of e-books, including details such as title, author, genre, and description. Users can search for specific books or browse through different categories to find their desired e-books.</a:t>
            </a:r>
          </a:p>
          <a:p>
            <a:pPr algn="l">
              <a:buFont typeface="+mj-lt"/>
              <a:buAutoNum type="arabicPeriod"/>
            </a:pPr>
            <a:r>
              <a:rPr lang="en-US" sz="2000" b="0" i="0" u="sng" dirty="0">
                <a:effectLst/>
              </a:rPr>
              <a:t>Personal Libraries</a:t>
            </a:r>
            <a:r>
              <a:rPr lang="en-US" sz="2000" b="0" i="0" dirty="0">
                <a:effectLst/>
              </a:rPr>
              <a:t>: Users can create their personal libraries within the system, allowing them to organize and manage their e-books efficiently</a:t>
            </a:r>
          </a:p>
          <a:p>
            <a:pPr algn="l">
              <a:buFont typeface="+mj-lt"/>
              <a:buAutoNum type="arabicPeriod"/>
            </a:pPr>
            <a:r>
              <a:rPr lang="en-US" sz="2000" b="0" i="0" u="sng" dirty="0">
                <a:effectLst/>
              </a:rPr>
              <a:t>Recommendations and Suggestions</a:t>
            </a:r>
            <a:r>
              <a:rPr lang="en-US" sz="2000" b="0" i="0" dirty="0">
                <a:effectLst/>
              </a:rPr>
              <a:t>: The E-Book Management System employs intelligent algorithms to provide personalized recommendations based on users' reading history, preferences, and popular books in similar genres. </a:t>
            </a:r>
          </a:p>
          <a:p>
            <a:pPr algn="l">
              <a:buFont typeface="+mj-lt"/>
              <a:buAutoNum type="arabicPeriod"/>
            </a:pPr>
            <a:r>
              <a:rPr lang="en-US" sz="2000" b="0" i="0" u="sng" dirty="0">
                <a:effectLst/>
              </a:rPr>
              <a:t>User Interaction</a:t>
            </a:r>
            <a:r>
              <a:rPr lang="en-US" sz="2000" b="0" i="0" dirty="0">
                <a:effectLst/>
              </a:rPr>
              <a:t>: The system facilitates user interactions through features like book ratings, reviews, and comments. Users can rate and provide feedback on e-books they have read, allowing others to make informed decisions when selecting books.</a:t>
            </a:r>
          </a:p>
          <a:p>
            <a:pPr algn="l">
              <a:buFont typeface="+mj-lt"/>
              <a:buAutoNum type="arabicPeriod"/>
            </a:pPr>
            <a:r>
              <a:rPr lang="en-US" sz="2000" b="0" i="0" u="sng" dirty="0">
                <a:effectLst/>
              </a:rPr>
              <a:t>E-Book Formats and Compatibility</a:t>
            </a:r>
            <a:r>
              <a:rPr lang="en-US" sz="2000" b="0" i="0" dirty="0">
                <a:effectLst/>
              </a:rPr>
              <a:t>: The system supports various e-book formats, ensuring compatibility with a wide range of devices and e-reader applications. Users can upload their e-book files or connect to external platforms for purchasing or downloading e-books.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4761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ACBE0-93E6-9218-D9D6-D2576131E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192560"/>
          </a:xfrm>
        </p:spPr>
        <p:txBody>
          <a:bodyPr/>
          <a:lstStyle/>
          <a:p>
            <a:r>
              <a:rPr lang="en-US" u="sng" dirty="0"/>
              <a:t>Hardware Requirements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B33DD-1174-0ECF-1BC5-8466A1B9D0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556792"/>
            <a:ext cx="10157354" cy="5040560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Processor</a:t>
            </a:r>
            <a:r>
              <a:rPr lang="en-US" b="0" i="0" dirty="0">
                <a:effectLst/>
              </a:rPr>
              <a:t>: A modern processor with adequate processing power to handle the system's functionalities and user interactions smoothly.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Memory (RAM): </a:t>
            </a:r>
            <a:r>
              <a:rPr lang="en-US" b="0" i="0" dirty="0">
                <a:effectLst/>
              </a:rPr>
              <a:t>Sufficient RAM to ensure optimal performance, depending on the scale of the project and expected user load.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Storage</a:t>
            </a:r>
            <a:r>
              <a:rPr lang="en-US" b="0" i="0" dirty="0">
                <a:effectLst/>
              </a:rPr>
              <a:t>: Sizable storage space to accommodate the e-book catalog, user libraries, and related data.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Network</a:t>
            </a:r>
            <a:r>
              <a:rPr lang="en-US" b="0" i="0" dirty="0">
                <a:effectLst/>
              </a:rPr>
              <a:t>: A stable network connection to facilitate data retrieval, updates, and potential integration with external e-book platforms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636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55B86-A791-E1E9-23DB-A9FB5ACA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/>
          <a:lstStyle/>
          <a:p>
            <a:r>
              <a:rPr lang="en-US" u="sng" dirty="0"/>
              <a:t>Software Requirements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60A8F-C68E-7CFF-BA9B-ED467864C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196752"/>
            <a:ext cx="10157354" cy="5585048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Operating System</a:t>
            </a:r>
            <a:r>
              <a:rPr lang="en-US" b="0" i="0" dirty="0">
                <a:effectLst/>
              </a:rPr>
              <a:t>: Choose an operating system that best suits your development environment and target deployment platform, such as Windows, macOS, or Linux.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Database Management System</a:t>
            </a:r>
            <a:r>
              <a:rPr lang="en-US" b="0" i="0" dirty="0">
                <a:effectLst/>
              </a:rPr>
              <a:t>: Database management system (DBMS) to store and manage e-book data efficiently. Popular options include MySQL, PostgreSQL, or MongoDB.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Web Server</a:t>
            </a:r>
            <a:r>
              <a:rPr lang="en-US" b="0" i="0" dirty="0">
                <a:effectLst/>
              </a:rPr>
              <a:t>: If the system will be web-based, consider using a web server like Apache or Nginx to host and serve the application.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u="sng" dirty="0">
                <a:effectLst/>
              </a:rPr>
              <a:t>Programming Languages and Frameworks: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IDE: Eclipse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dirty="0"/>
              <a:t>Language: Java, JSP, HTML, CSS and JavaScript.</a:t>
            </a:r>
          </a:p>
          <a:p>
            <a:pPr marL="457200" indent="-457200" algn="l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51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949C065-F839-18AA-9480-09722C13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048544"/>
          </a:xfrm>
        </p:spPr>
        <p:txBody>
          <a:bodyPr/>
          <a:lstStyle/>
          <a:p>
            <a:r>
              <a:rPr lang="en-US" u="sng" dirty="0"/>
              <a:t>Data Flow Diagram</a:t>
            </a:r>
            <a:endParaRPr lang="en-IN" u="sng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E24701C-6EA5-1CB6-208A-9B40601C13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7375" y="1779286"/>
            <a:ext cx="7697274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F877-98B7-42B3-3099-67302974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832520"/>
          </a:xfrm>
        </p:spPr>
        <p:txBody>
          <a:bodyPr>
            <a:normAutofit fontScale="90000"/>
          </a:bodyPr>
          <a:lstStyle/>
          <a:p>
            <a:r>
              <a:rPr lang="en-US" sz="3600" u="sng" dirty="0"/>
              <a:t>Software Development Life Cycle Model (SDLC)</a:t>
            </a:r>
            <a:endParaRPr lang="en-IN" sz="3600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532F-D1B9-1CAD-CB75-160D65803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124744"/>
            <a:ext cx="10157354" cy="5657056"/>
          </a:xfrm>
        </p:spPr>
        <p:txBody>
          <a:bodyPr>
            <a:normAutofit/>
          </a:bodyPr>
          <a:lstStyle/>
          <a:p>
            <a:pPr algn="l"/>
            <a:r>
              <a:rPr lang="en-US" sz="1800" b="0" i="0" dirty="0">
                <a:effectLst/>
              </a:rPr>
              <a:t>The Software Development Life Cycle (SDLC) model commonly used in an E-Book Management System project is the </a:t>
            </a:r>
            <a:r>
              <a:rPr lang="en-US" sz="1800" b="1" i="0" dirty="0">
                <a:effectLst/>
              </a:rPr>
              <a:t>Agile model</a:t>
            </a:r>
            <a:r>
              <a:rPr lang="en-US" sz="1800" b="0" i="0" dirty="0">
                <a:effectLst/>
              </a:rPr>
              <a:t>, specifically the Scrum framework.</a:t>
            </a:r>
          </a:p>
          <a:p>
            <a:pPr algn="l"/>
            <a:r>
              <a:rPr lang="en-US" sz="1800" b="0" i="0" dirty="0">
                <a:effectLst/>
              </a:rPr>
              <a:t>The Agile model is well-suited for projects that require flexibility, adaptability, and frequent collaboration with stakeholders. It focuses on iterative and incremental development, allowing for the delivery of working software </a:t>
            </a:r>
            <a:r>
              <a:rPr lang="en-IN" sz="1800" b="0" i="0" dirty="0">
                <a:effectLst/>
              </a:rPr>
              <a:t>called sprints</a:t>
            </a:r>
            <a:r>
              <a:rPr lang="en-IN" sz="1800" b="0" i="0" dirty="0">
                <a:effectLst/>
                <a:latin typeface="Söhne"/>
              </a:rPr>
              <a:t>.</a:t>
            </a:r>
            <a:endParaRPr lang="en-US" sz="1800" b="0" i="0" dirty="0">
              <a:effectLst/>
            </a:endParaRPr>
          </a:p>
          <a:p>
            <a:pPr algn="l"/>
            <a:r>
              <a:rPr lang="en-US" sz="1800" b="0" i="0" dirty="0">
                <a:effectLst/>
              </a:rPr>
              <a:t>The SDLC in an E-Book Management System project using the Agile model typically follows these phases: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Requirements Gathering: Collaboratively defining the system requirements and creating a product backlog.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Sprint Planning: Selecting a set of requirements from the product backlog for the upcoming sprint and creating a sprint backlog.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Sprint Execution: Developing and testing the selected requirements within the sprint timeframe.</a:t>
            </a:r>
          </a:p>
          <a:p>
            <a:pPr algn="l">
              <a:buFont typeface="+mj-lt"/>
              <a:buAutoNum type="arabicPeriod"/>
            </a:pPr>
            <a:r>
              <a:rPr lang="en-US" sz="1800" b="0" i="0" dirty="0">
                <a:effectLst/>
              </a:rPr>
              <a:t>Sprint Review: Demonstrating the completed work to stakeholders and gathering feedback.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183829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B71A7-593A-46AF-A919-9DAA5372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976536"/>
          </a:xfrm>
        </p:spPr>
        <p:txBody>
          <a:bodyPr/>
          <a:lstStyle/>
          <a:p>
            <a:r>
              <a:rPr lang="en-US" u="sng" dirty="0"/>
              <a:t>Benefits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E2A4-71C2-7FDB-C3E4-0E012ADB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196752"/>
            <a:ext cx="10157354" cy="5472608"/>
          </a:xfrm>
        </p:spPr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Efficient e-book organization: The system helps users keep their e-book collections well-organized, making it easier to locate and manage their digital books.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Enhanced reading experience: Users can track their reading progress, receive personalized recommendations, and engage in discussions, improving their overall reading experience.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Time-saving search and discovery: The system's search capabilities and recommendation engine save users' time by suggesting relevant books and providing quick access to their desired titles.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Collaborative features: Users can share their libraries, recommendations, and reviews with others, fostering a sense of community and enabling the exchange of book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25305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BE7E-BA86-40C1-9DA4-BE8143DA3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048544"/>
          </a:xfrm>
        </p:spPr>
        <p:txBody>
          <a:bodyPr/>
          <a:lstStyle/>
          <a:p>
            <a:r>
              <a:rPr lang="en-US" u="sng" dirty="0"/>
              <a:t>Future Updates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9255-5D3D-F5D1-B4F8-1623DC3F9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340768"/>
            <a:ext cx="10157354" cy="5441032"/>
          </a:xfrm>
        </p:spPr>
        <p:txBody>
          <a:bodyPr>
            <a:normAutofit lnSpcReduction="10000"/>
          </a:bodyPr>
          <a:lstStyle/>
          <a:p>
            <a:pPr algn="l">
              <a:buFont typeface="+mj-lt"/>
              <a:buAutoNum type="arabicPeriod"/>
            </a:pPr>
            <a:r>
              <a:rPr lang="en-US" b="0" i="0" u="sng" dirty="0">
                <a:effectLst/>
              </a:rPr>
              <a:t>Enhanced User Interface</a:t>
            </a:r>
            <a:r>
              <a:rPr lang="en-US" b="0" i="0" dirty="0">
                <a:effectLst/>
              </a:rPr>
              <a:t>: Improve the user interface to provide a more intuitive and seamless experience for users.</a:t>
            </a:r>
          </a:p>
          <a:p>
            <a:pPr algn="l">
              <a:buFont typeface="+mj-lt"/>
              <a:buAutoNum type="arabicPeriod"/>
            </a:pPr>
            <a:r>
              <a:rPr lang="en-US" b="0" i="0" u="sng" dirty="0">
                <a:effectLst/>
              </a:rPr>
              <a:t>Personalization Features</a:t>
            </a:r>
            <a:r>
              <a:rPr lang="en-US" b="0" i="0" dirty="0">
                <a:effectLst/>
              </a:rPr>
              <a:t>: Implement features that allow users to personalize their reading experience. This can include options for customizing font styles, text size, themes, and bookmarking favorite e-books.</a:t>
            </a:r>
          </a:p>
          <a:p>
            <a:pPr algn="l">
              <a:buFont typeface="+mj-lt"/>
              <a:buAutoNum type="arabicPeriod"/>
            </a:pPr>
            <a:r>
              <a:rPr lang="en-US" b="0" i="0" u="sng" dirty="0">
                <a:effectLst/>
              </a:rPr>
              <a:t>Recommendations and Discovery</a:t>
            </a:r>
            <a:r>
              <a:rPr lang="en-US" b="0" i="0" dirty="0">
                <a:effectLst/>
              </a:rPr>
              <a:t>: Incorporate intelligent recommendation algorithms to suggest relevant e-books based on users' reading preferences, browsing history, and ratings. Enhance the discovery process by providing curated lists, featured collections, and genre-specific recommendations.</a:t>
            </a:r>
          </a:p>
          <a:p>
            <a:pPr algn="l">
              <a:buFont typeface="+mj-lt"/>
              <a:buAutoNum type="arabicPeriod"/>
            </a:pPr>
            <a:r>
              <a:rPr lang="en-US" b="0" i="0" u="sng" dirty="0">
                <a:effectLst/>
              </a:rPr>
              <a:t>Social Features</a:t>
            </a:r>
            <a:r>
              <a:rPr lang="en-US" b="0" i="0" dirty="0">
                <a:effectLst/>
              </a:rPr>
              <a:t>: Integrate social features that enable users to share their reading lists, reviews, and recommendations with friends or within the e-book community.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7155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FE77-3351-3DCA-0338-C5F39D7F8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048544"/>
          </a:xfrm>
        </p:spPr>
        <p:txBody>
          <a:bodyPr/>
          <a:lstStyle/>
          <a:p>
            <a:r>
              <a:rPr lang="en-US" u="sng" dirty="0"/>
              <a:t>Conclusion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20ED8-BB14-0C14-F2B0-5A220F21E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309" y="1268760"/>
            <a:ext cx="10157354" cy="5400600"/>
          </a:xfrm>
        </p:spPr>
        <p:txBody>
          <a:bodyPr>
            <a:normAutofit fontScale="92500" lnSpcReduction="10000"/>
          </a:bodyPr>
          <a:lstStyle/>
          <a:p>
            <a:r>
              <a:rPr lang="en-US" sz="2600" b="0" i="0" dirty="0">
                <a:effectLst/>
              </a:rPr>
              <a:t>The E-Book Management System is a valuable tool that simplifies the management of e-book collections, offering users an intuitive and efficient platform for organizing, accessing, and discovering e-books. With its user-friendly interface and intelligent features, this system enhances the reading experience and caters to the needs of individuals and organizations that rely on digital books.</a:t>
            </a:r>
          </a:p>
          <a:p>
            <a:r>
              <a:rPr lang="en-US" sz="2600" b="0" i="0" dirty="0">
                <a:effectLst/>
              </a:rPr>
              <a:t>The system provides a user-friendly interface, personalized reading experiences, and features such as recommendations and social sharing. It allows users to easily browse, search, and download e-books, promoting a seamless reading experience. For publishers, the system facilitates content management, sales tracking, and analytics to optimize their offerings. The E-Book Management System streamlines the entire lifecycle of e-books, from acquisition to distribution, ensuring that users can enjoy a wide range of titles conveniently.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33444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9A4E33EC-D715-440E-9062-8AFA4CC9E341}" vid="{0DFBCB81-4ACA-49F1-BA1C-2B43B27F1FC4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49</TotalTime>
  <Words>1012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Söhne</vt:lpstr>
      <vt:lpstr>Books 16x9</vt:lpstr>
      <vt:lpstr>E-Book Management System</vt:lpstr>
      <vt:lpstr>Introduction</vt:lpstr>
      <vt:lpstr>Key Features</vt:lpstr>
      <vt:lpstr>Hardware Requirements</vt:lpstr>
      <vt:lpstr>Software Requirements</vt:lpstr>
      <vt:lpstr>Data Flow Diagram</vt:lpstr>
      <vt:lpstr>Software Development Life Cycle Model (SDLC)</vt:lpstr>
      <vt:lpstr>Benefits</vt:lpstr>
      <vt:lpstr>Future Updates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E-Book Management System</dc:title>
  <dc:creator>EBBAN ZIA</dc:creator>
  <cp:lastModifiedBy>EBBAN ZIA</cp:lastModifiedBy>
  <cp:revision>2</cp:revision>
  <dcterms:created xsi:type="dcterms:W3CDTF">2023-05-19T15:26:03Z</dcterms:created>
  <dcterms:modified xsi:type="dcterms:W3CDTF">2023-05-19T16:16:15Z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